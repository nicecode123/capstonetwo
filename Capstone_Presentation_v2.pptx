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2E44"/>
                </a:solidFill>
                <a:latin typeface="Arial"/>
              </a:rPr>
              <a:t>Median Popularity by Genre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Popularity</c:v>
                </c:pt>
              </c:strCache>
            </c:strRef>
          </c:tx>
          <c:spPr>
            <a:solidFill>
              <a:srgbClr val="1DB9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Pop</c:v>
                </c:pt>
                <c:pt idx="1">
                  <c:v>R&amp;B</c:v>
                </c:pt>
                <c:pt idx="2">
                  <c:v>Latin</c:v>
                </c:pt>
                <c:pt idx="3">
                  <c:v>Rap</c:v>
                </c:pt>
                <c:pt idx="4">
                  <c:v>Rock</c:v>
                </c:pt>
                <c:pt idx="5">
                  <c:v>EDM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44</c:v>
                </c:pt>
                <c:pt idx="2">
                  <c:v>43</c:v>
                </c:pt>
                <c:pt idx="3">
                  <c:v>42</c:v>
                </c:pt>
                <c:pt idx="4">
                  <c:v>38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F5-48B0-AECD-3089C79F09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D8D8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E8-4F03-BE4A-FAA7C6EE7D6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E8-4F03-BE4A-FAA7C6EE7D6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E8-4F03-BE4A-FAA7C6EE7D6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CE8-4F03-BE4A-FAA7C6EE7D6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E8-4F03-BE4A-FAA7C6EE7D6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E8-4F03-BE4A-FAA7C6EE7D6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CE8-4F03-BE4A-FAA7C6EE7D6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CE8-4F03-BE4A-FAA7C6EE7D6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DCE8-4F03-BE4A-FAA7C6EE7D6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DCE8-4F03-BE4A-FAA7C6EE7D6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DCE8-4F03-BE4A-FAA7C6EE7D69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DCE8-4F03-BE4A-FAA7C6EE7D69}"/>
              </c:ext>
            </c:extLst>
          </c:dPt>
          <c:dPt>
            <c:idx val="12"/>
            <c:invertIfNegative val="0"/>
            <c:bubble3D val="0"/>
            <c:spPr>
              <a:solidFill>
                <a:srgbClr val="157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DCE8-4F03-BE4A-FAA7C6EE7D69}"/>
              </c:ext>
            </c:extLst>
          </c:dPt>
          <c:dPt>
            <c:idx val="13"/>
            <c:invertIfNegative val="0"/>
            <c:bubble3D val="0"/>
            <c:spPr>
              <a:solidFill>
                <a:srgbClr val="157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DCE8-4F03-BE4A-FAA7C6EE7D69}"/>
              </c:ext>
            </c:extLst>
          </c:dPt>
          <c:dPt>
            <c:idx val="14"/>
            <c:invertIfNegative val="0"/>
            <c:bubble3D val="0"/>
            <c:spPr>
              <a:solidFill>
                <a:srgbClr val="157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DCE8-4F03-BE4A-FAA7C6EE7D69}"/>
              </c:ext>
            </c:extLst>
          </c:dPt>
          <c:cat>
            <c:strRef>
              <c:f>Sheet1!$A$2:$A$16</c:f>
              <c:strCache>
                <c:ptCount val="15"/>
                <c:pt idx="0">
                  <c:v>subgenre_latin pop</c:v>
                </c:pt>
                <c:pt idx="1">
                  <c:v>subgenre_hard rock</c:v>
                </c:pt>
                <c:pt idx="2">
                  <c:v>subgenre_pop edm</c:v>
                </c:pt>
                <c:pt idx="3">
                  <c:v>liveness</c:v>
                </c:pt>
                <c:pt idx="4">
                  <c:v>valence</c:v>
                </c:pt>
                <c:pt idx="5">
                  <c:v>energy</c:v>
                </c:pt>
                <c:pt idx="6">
                  <c:v>acousticness</c:v>
                </c:pt>
                <c:pt idx="7">
                  <c:v>speechiness</c:v>
                </c:pt>
                <c:pt idx="8">
                  <c:v>danceability</c:v>
                </c:pt>
                <c:pt idx="9">
                  <c:v>tempo</c:v>
                </c:pt>
                <c:pt idx="10">
                  <c:v>loudness</c:v>
                </c:pt>
                <c:pt idx="11">
                  <c:v>duration_sec</c:v>
                </c:pt>
                <c:pt idx="12">
                  <c:v>instrumentalness</c:v>
                </c:pt>
                <c:pt idx="13">
                  <c:v>days_since_release</c:v>
                </c:pt>
                <c:pt idx="14">
                  <c:v>track_occurences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5.0000000000000001E-3</c:v>
                </c:pt>
                <c:pt idx="1">
                  <c:v>6.0000000000000001E-3</c:v>
                </c:pt>
                <c:pt idx="2">
                  <c:v>6.0000000000000001E-3</c:v>
                </c:pt>
                <c:pt idx="3">
                  <c:v>5.6000000000000001E-2</c:v>
                </c:pt>
                <c:pt idx="4">
                  <c:v>5.7000000000000002E-2</c:v>
                </c:pt>
                <c:pt idx="5">
                  <c:v>5.8000000000000003E-2</c:v>
                </c:pt>
                <c:pt idx="6">
                  <c:v>5.8999999999999997E-2</c:v>
                </c:pt>
                <c:pt idx="7">
                  <c:v>0.06</c:v>
                </c:pt>
                <c:pt idx="8">
                  <c:v>6.2E-2</c:v>
                </c:pt>
                <c:pt idx="9">
                  <c:v>6.2E-2</c:v>
                </c:pt>
                <c:pt idx="10">
                  <c:v>6.4000000000000001E-2</c:v>
                </c:pt>
                <c:pt idx="11">
                  <c:v>6.5000000000000002E-2</c:v>
                </c:pt>
                <c:pt idx="12">
                  <c:v>7.0000000000000007E-2</c:v>
                </c:pt>
                <c:pt idx="13">
                  <c:v>0.112</c:v>
                </c:pt>
                <c:pt idx="14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DCE8-4F03-BE4A-FAA7C6EE7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8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10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joebeachcapital/30000-spotify-songs/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 ·  FINAL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Song</a:t>
            </a:r>
            <a:r>
              <a:rPr lang="en-US" sz="5200" dirty="0"/>
              <a:t> 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Babb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7548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success criteria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47548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96012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58768" y="128016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Wrangling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17099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 tracks → 24,531 clean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47548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96012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128016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3408" y="170992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trends, feature distributions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47548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65176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29718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4015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Random Forest, XGBoost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6517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2651760"/>
            <a:ext cx="475488" cy="1463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265176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58768" y="29718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58768" y="34015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presence, recency, vocal production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AF6EE"/>
          </a:solidFill>
          <a:ln w="190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199" y="960120"/>
            <a:ext cx="822959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record labels increase popularity in their songs as of October 2019?"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931920" cy="2231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popularity (0–100) reflects recent streaming activity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popularity drives playlist placement and further streams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labels need data-driven guidance for production decisions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from </a:t>
            </a: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Kaggle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for Success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706624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audio features most predictive of popularity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3 concrete, analysis-backed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explaining meaningful variance in popularity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Wrangling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Tracks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353312"/>
            <a:ext cx="146304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9144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969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−4,476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39112" y="14264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353312"/>
            <a:ext cx="146304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12464" y="9144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969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−2,126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58184" y="14264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Name Dups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85232" y="1353312"/>
            <a:ext cx="146304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31536" y="9144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7256" y="969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−1,694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77256" y="14264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Remixes Removed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1353312"/>
            <a:ext cx="146304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50608" y="914400"/>
            <a:ext cx="15727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96328" y="969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24,531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96328" y="14264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Tracks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029968"/>
            <a:ext cx="82296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220370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1214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81422" y="2121408"/>
            <a:ext cx="5922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records with nulls and zeroes only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275234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26700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81422" y="2670048"/>
            <a:ext cx="5922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rounds: track ID, track name + audio features combination, and track name  + artist combination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127248"/>
            <a:ext cx="82296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330098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680" y="3218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Removal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81422" y="3218688"/>
            <a:ext cx="5922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1,694 remix tracks removed (similar features but inconsistent popularity)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384962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37673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Normalization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81422" y="3767328"/>
            <a:ext cx="5922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dates (year-only or year-month) filled with plausible random values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24528"/>
            <a:ext cx="822960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4360" y="4398264"/>
            <a:ext cx="164592" cy="16459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" y="4315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81422" y="4315968"/>
            <a:ext cx="59224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track_occurences, top_genre, and top_subgenre from the original data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Popularity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52160" y="914400"/>
            <a:ext cx="2926080" cy="3013296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3504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1371599"/>
            <a:ext cx="2606040" cy="2497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popularity = 41</a:t>
            </a:r>
          </a:p>
          <a:p>
            <a:pPr>
              <a:spcAft>
                <a:spcPts val="600"/>
              </a:spcAft>
              <a:buSzPct val="100000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of tracks scored exactly 0 and were removed before modeling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track scored 100: "Dance Monkey" by Tones and I</a:t>
            </a:r>
          </a:p>
          <a:p>
            <a:pPr>
              <a:spcAft>
                <a:spcPts val="600"/>
              </a:spcAft>
              <a:buSzPct val="100000"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1% threshold: popularity ≥ 83 (263 tracks)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4C2307-AB2A-7373-94C8-8A915AD1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04" y="1051560"/>
            <a:ext cx="5431836" cy="32278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63E270-13E6-F15A-1F84-262B445C219B}"/>
              </a:ext>
            </a:extLst>
          </p:cNvPr>
          <p:cNvSpPr txBox="1"/>
          <p:nvPr/>
        </p:nvSpPr>
        <p:spPr>
          <a:xfrm>
            <a:off x="1807698" y="858129"/>
            <a:ext cx="33832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Distribution with zeroes removed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Genre &amp; Audio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4572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120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Top 1% Tracks Fall (ECDF)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371600"/>
            <a:ext cx="36576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120640" y="1371600"/>
            <a:ext cx="54864" cy="548640"/>
          </a:xfrm>
          <a:prstGeom prst="rect">
            <a:avLst/>
          </a:prstGeom>
          <a:solidFill>
            <a:srgbClr val="157A3A"/>
          </a:solidFill>
          <a:ln w="12700">
            <a:solidFill>
              <a:srgbClr val="15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2578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70th percentile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17190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tracks in dataset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20640" y="1993392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20640" y="1993392"/>
            <a:ext cx="54864" cy="548640"/>
          </a:xfrm>
          <a:prstGeom prst="rect">
            <a:avLst/>
          </a:prstGeom>
          <a:solidFill>
            <a:srgbClr val="157A3A"/>
          </a:solidFill>
          <a:ln w="12700">
            <a:solidFill>
              <a:srgbClr val="15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5780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Speechiness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69480" y="20848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75th percentile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57800" y="23408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tracks in dataset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20640" y="2615184"/>
            <a:ext cx="36576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20640" y="2615184"/>
            <a:ext cx="54864" cy="548640"/>
          </a:xfrm>
          <a:prstGeom prst="rect">
            <a:avLst/>
          </a:prstGeom>
          <a:solidFill>
            <a:srgbClr val="157A3A"/>
          </a:solidFill>
          <a:ln w="12700">
            <a:solidFill>
              <a:srgbClr val="15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5780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69480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60th percentile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57800" y="29626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tracks in dataset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20640" y="3236976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120640" y="3236976"/>
            <a:ext cx="54864" cy="548640"/>
          </a:xfrm>
          <a:prstGeom prst="rect">
            <a:avLst/>
          </a:prstGeom>
          <a:solidFill>
            <a:srgbClr val="157A3A"/>
          </a:solidFill>
          <a:ln w="12700">
            <a:solidFill>
              <a:srgbClr val="15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5780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69480" y="33284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60th percentile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35844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tracks in dataset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0" y="3858768"/>
            <a:ext cx="3657600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20640" y="3858768"/>
            <a:ext cx="54864" cy="548640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25780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269480" y="3950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30th percentile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57800" y="42062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all tracks in dataset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Approach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alpha=0.1  ·  solver=auto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09728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2606040"/>
            <a:ext cx="109728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fast but limited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651760" cy="3794760"/>
          </a:xfrm>
          <a:prstGeom prst="rect">
            <a:avLst/>
          </a:prstGeom>
          <a:solidFill>
            <a:srgbClr val="F0FAF4"/>
          </a:solidFill>
          <a:ln w="25400">
            <a:solidFill>
              <a:srgbClr val="1DB95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n_est=500  ·  depth=20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max_feat=None  ·  split=5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606040"/>
            <a:ext cx="1097280" cy="804672"/>
          </a:xfrm>
          <a:prstGeom prst="rect">
            <a:avLst/>
          </a:prstGeom>
          <a:solidFill>
            <a:srgbClr val="E0F5EA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8328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606040"/>
            <a:ext cx="1097280" cy="804672"/>
          </a:xfrm>
          <a:prstGeom prst="rect">
            <a:avLst/>
          </a:prstGeom>
          <a:solidFill>
            <a:srgbClr val="E0F5EA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177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96012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  ·  depth=5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n_est=200  ·  sub=1.0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606040"/>
            <a:ext cx="109728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52360" y="2606040"/>
            <a:ext cx="109728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5236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5236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tied with RF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with 5-fold GridSearchCV  ·  80/20 train-test split  ·  Features standardized with StandardScaler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Random Forest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14400"/>
            <a:ext cx="3017520" cy="393192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1417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91072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track_occurences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673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feature — songs on more playlists score higher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97880" y="1965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9107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days_since_release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2221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songs score higher — Spotify favors recent tracks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97880" y="2514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91072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instrumentalness (vocal tracks) correlates with popularity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97880" y="30632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91072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duration_sec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length has moderate predictive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97880" y="3611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91072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9788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loudness associated with greater popularity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97880" y="41605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91072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4416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contributes modestly to popularity prediction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Record Labels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94360" cy="11430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325880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Playlist Placement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64208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occurrences, the number of playlists a song appears on, was the single most important predictor of popularity. Labels should invest in editorial and algorithmic playlist pitching, as broader playlist presence directly correlates with higher popularity scores.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8229600" cy="1143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594360" cy="11430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587752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New Music Consistently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926080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release was the second most important feature. Spotify's algorithm strongly favors recent tracks. Record labels should prioritize frequent, timely releases to maintain catalog recency and algorithmic visibility.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594360" cy="11430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3849624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Vocal Tracks Over Instrumentals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4187952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 was the third most important feature, with low </a:t>
            </a:r>
            <a:r>
              <a:rPr lang="en-US" sz="110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(songs with vocals) correlating with higher popularity. Labels should favor vocal-led productions over purely instrumental releases.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2377440"/>
          </a:xfrm>
          <a:prstGeom prst="rect">
            <a:avLst/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466344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(MAE = 13.95,  R² = 0.263)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~26% of popularity variance using features available and derived from this dataset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artist recognition, and lyrics not captured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456432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Further Research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lyric-based NLP features (sentiment, theme, vocabulary)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marketing spend, editorial placement, and social following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genre-specific sub-models for higher accuracy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960120"/>
            <a:ext cx="3200400" cy="3913632"/>
          </a:xfrm>
          <a:prstGeom prst="rect">
            <a:avLst/>
          </a:prstGeom>
          <a:solidFill>
            <a:srgbClr val="F0FAF4"/>
          </a:solidFill>
          <a:ln w="25400">
            <a:solidFill>
              <a:srgbClr val="1DB95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468880" cy="0"/>
          </a:xfrm>
          <a:prstGeom prst="line">
            <a:avLst/>
          </a:prstGeom>
          <a:noFill/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169164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placed across many playlists, released recently, and featuring vocals over instrumentals have the highest predicted popularity on Spotify.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792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Song Popularity — Capstone Final Report</dc:title>
  <dc:subject>PptxGenJS Presentation</dc:subject>
  <dc:creator>Erik Babb</dc:creator>
  <cp:lastModifiedBy>Erik Babb</cp:lastModifiedBy>
  <cp:revision>6</cp:revision>
  <dcterms:created xsi:type="dcterms:W3CDTF">2026-05-12T19:16:24Z</dcterms:created>
  <dcterms:modified xsi:type="dcterms:W3CDTF">2026-05-13T15:52:54Z</dcterms:modified>
</cp:coreProperties>
</file>